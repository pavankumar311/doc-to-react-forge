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2EBF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2EBF0"/>
                </a:solidFill>
                <a:latin typeface="Arial"/>
              </a:rPr>
              <a:t>Public Safety Awareness Score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Awareness 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CityMap</c:v>
                  </c:pt>
                  <c:pt idx="1">
                    <c:v>After CityMap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B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B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3B5E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64008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6400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000" b="1">
                <a:solidFill>
                  <a:srgbClr val="00B4FF"/>
                </a:solidFill>
              </a:rPr>
              <a:t>SENTINEL</a:t>
            </a:r>
          </a:p>
        </p:txBody>
      </p:sp>
      <p:sp>
        <p:nvSpPr>
          <p:cNvPr id="5" name="Text 2"/>
          <p:cNvSpPr/>
          <p:nvPr/>
        </p:nvSpPr>
        <p:spPr>
          <a:xfrm>
            <a:off x="365760" y="1691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>
                <a:solidFill>
                  <a:srgbClr val="00B4FF"/>
                </a:solidFill>
              </a:rPr>
              <a:t>A Graph-Powered Forensic Intelligence Platform for Precision Public Safety and Strategic Analysis</a:t>
            </a:r>
          </a:p>
        </p:txBody>
      </p:sp>
      <p:sp>
        <p:nvSpPr>
          <p:cNvPr id="6" name="Shape 3"/>
          <p:cNvSpPr/>
          <p:nvPr/>
        </p:nvSpPr>
        <p:spPr>
          <a:xfrm>
            <a:off x="365760" y="278892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36576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BF0"/>
                </a:solidFill>
              </a:rPr>
              <a:t>Presented to: City Police Department Leadership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Empowering Citizens | Enhancing Transparency | Building Trust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Citizens lack access to real-time, local crime data — creating fear, mistrust, and uninformed decisions.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916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23317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No Visibility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" y="2788920"/>
            <a:ext cx="2340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Residents don't know what crimes occur in their own neighborhoods.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55448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916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10128" y="23317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Reactive, Not Proactive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10128" y="2788920"/>
            <a:ext cx="2340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People learn about incidents only through social media — often inaccurate.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55448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69164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44768" y="23317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Trust Gap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44768" y="2788920"/>
            <a:ext cx="2340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Lack of transparency erodes public confidence in law enforcement.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What is Sentinel (GSCIP)?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</a:rPr>
              <a:t>Sentinel is a free, web-based public platform that maps crime incidents, registered offender locations, and police resources across your city — powered by the Police Department's own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651760" cy="1005840"/>
          </a:xfrm>
          <a:prstGeom prst="rect">
            <a:avLst/>
          </a:prstGeom>
          <a:solidFill>
            <a:srgbClr val="0D3B5E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06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Interactive Crime Map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2377440"/>
            <a:ext cx="2651760" cy="1005840"/>
          </a:xfrm>
          <a:prstGeom prst="rect">
            <a:avLst/>
          </a:prstGeom>
          <a:solidFill>
            <a:srgbClr val="0D3B5E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606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95928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Crime Trend Dashboards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2377440"/>
            <a:ext cx="2651760" cy="1005840"/>
          </a:xfrm>
          <a:prstGeom prst="rect">
            <a:avLst/>
          </a:prstGeom>
          <a:solidFill>
            <a:srgbClr val="0D3B5E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6060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76288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Neighborhood Search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7200" y="3611880"/>
            <a:ext cx="2651760" cy="1005840"/>
          </a:xfrm>
          <a:prstGeom prst="rect">
            <a:avLst/>
          </a:prstGeom>
          <a:solidFill>
            <a:srgbClr val="0D3B5E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404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15568" y="38679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 Data Access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3337560" y="3611880"/>
            <a:ext cx="2651760" cy="1005840"/>
          </a:xfrm>
          <a:prstGeom prst="rect">
            <a:avLst/>
          </a:prstGeom>
          <a:solidFill>
            <a:srgbClr val="0D3B5E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8404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995928" y="38679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Alert Notifications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217920" y="3611880"/>
            <a:ext cx="2651760" cy="1005840"/>
          </a:xfrm>
          <a:prstGeom prst="rect">
            <a:avLst/>
          </a:prstGeom>
          <a:solidFill>
            <a:srgbClr val="0D3B5E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4048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76288" y="38679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Mobile Friendly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457200" cy="4572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457200" cy="45720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457200" cy="45720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6052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Sentinel Platform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10972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🗺️ Situational Map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Real-time forensic heatmapping with dynamic beat/ward/district overlays and forensic looping.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1031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⚖️ Tactical Forensics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Case-level exploration with advanced multi-select filtering for precincts and specific crime categories.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089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📊 Trend Analysis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Mathematical surge detection comparing rolling 7-Day performance against a 30-Day strategic baseline.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148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📝 Strategic Reports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Automated generation of production-ready multi-district forensic PDF portfolios for leadership briefings.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34440" y="3063240"/>
            <a:ext cx="6675120" cy="36576"/>
          </a:xfrm>
          <a:prstGeom prst="rect">
            <a:avLst/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4688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Police log incident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Officers file case reports in the CPD system as usual — no extra steps.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24688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15468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Data is processed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3840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Records are reviewed, classified by FBI/NIBRS codes and anonymized to block level.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24688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035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Sentinel updates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840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platform refreshes daily, keeping data current with a 7-day review buffer.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52360" y="24688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5236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Public explores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3840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Citizens search their neighborhood, view trends, and download open datasets.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3" name="Text 1"/>
          <p:cNvSpPr/>
          <p:nvPr/>
        </p:nvSpPr>
        <p:spPr>
          <a:xfrm>
            <a:off x="914400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4" name="Shape 2"/>
          <p:cNvSpPr/>
          <p:nvPr/>
        </p:nvSpPr>
        <p:spPr>
          <a:xfrm>
            <a:off x="91440000" y="1417320"/>
            <a:ext cx="1920240" cy="182880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0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6" name="Text 4"/>
          <p:cNvSpPr/>
          <p:nvPr/>
        </p:nvSpPr>
        <p:spPr>
          <a:xfrm>
            <a:off x="91440000" y="2258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7" name="Shape 5"/>
          <p:cNvSpPr/>
          <p:nvPr/>
        </p:nvSpPr>
        <p:spPr>
          <a:xfrm>
            <a:off x="91440000" y="1417320"/>
            <a:ext cx="1920240" cy="182880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0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9" name="Text 7"/>
          <p:cNvSpPr/>
          <p:nvPr/>
        </p:nvSpPr>
        <p:spPr>
          <a:xfrm>
            <a:off x="91440000" y="2258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0" name="Shape 8"/>
          <p:cNvSpPr/>
          <p:nvPr/>
        </p:nvSpPr>
        <p:spPr>
          <a:xfrm>
            <a:off x="91440000" y="1417320"/>
            <a:ext cx="1920240" cy="182880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0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2" name="Text 10"/>
          <p:cNvSpPr/>
          <p:nvPr/>
        </p:nvSpPr>
        <p:spPr>
          <a:xfrm>
            <a:off x="91440000" y="2258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3" name="Shape 11"/>
          <p:cNvSpPr/>
          <p:nvPr/>
        </p:nvSpPr>
        <p:spPr>
          <a:xfrm>
            <a:off x="91440000" y="1417320"/>
            <a:ext cx="1920240" cy="182880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0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5" name="Text 13"/>
          <p:cNvSpPr/>
          <p:nvPr/>
        </p:nvSpPr>
        <p:spPr>
          <a:xfrm>
            <a:off x="91440000" y="2258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graphicFrame>
        <p:nvGraphicFramePr>
          <p:cNvPr id="16" name="Chart 0" descr=""/>
          <p:cNvGraphicFramePr/>
          <p:nvPr/>
        </p:nvGraphicFramePr>
        <p:xfrm>
          <a:off x="91440000" y="3429000"/>
          <a:ext cx="84124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 for the Department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</a:rPr>
              <a:t>For the Police Department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sz="1200"/>
              <a:t>• Strategic Resource Allocation: Deploy units based on forensic density peaks, ensuring maximum impact in high-risk zones.</a:t>
            </a:r>
          </a:p>
          <a:p>
            <a:pPr/>
            <a:r>
              <a:rPr sz="1200"/>
              <a:t>• Proactive Surge Detection: Identify emerging crime trends (7-Day vs 30-Day) before they escalate into major city incidents.</a:t>
            </a:r>
          </a:p>
          <a:p>
            <a:pPr/>
            <a:r>
              <a:rPr sz="1200"/>
              <a:t>• Automated Command Briefings: Generate professional, clinical PDF portfolios for leadership in seconds, eliminating manual data prep.</a:t>
            </a:r>
          </a:p>
          <a:p>
            <a:pPr/>
            <a:r>
              <a:rPr sz="1200"/>
              <a:t>• Advanced Forensic Search: Query complex datasets using the AI Chat Assistant for instant situational answers.</a:t>
            </a:r>
          </a:p>
        </p:txBody>
      </p:sp>
      <p:sp>
        <p:nvSpPr>
          <p:cNvPr id="7" name="Shape 4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</a:rPr>
              <a:t>For the Public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846320" y="160020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sz="1200"/>
              <a:t>• Real-Time Situational Awareness: Understand localized safety trends through high-fidelity, interactive forensic heatmaps.</a:t>
            </a:r>
          </a:p>
          <a:p>
            <a:pPr/>
            <a:r>
              <a:rPr sz="1200"/>
              <a:t>• Infrastructure-Relative Safety: Proactively assess risk proximity to critical assets like Schools, Hospitals, and Parks.</a:t>
            </a:r>
          </a:p>
          <a:p>
            <a:pPr/>
            <a:r>
              <a:rPr sz="1200"/>
              <a:t>• Enhanced Transparency: Automated reporting ensures the public has access to the same forensic data used for strategic policing.</a:t>
            </a:r>
          </a:p>
          <a:p>
            <a:pPr/>
            <a:r>
              <a:rPr sz="1200"/>
              <a:t>• Conversational Intelligence: Use the AI Assistant to ask safety questions about specific neighborhoods and get instant, data-backed answers.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&amp; Data Security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505050"/>
                </a:solidFill>
              </a:rPr>
              <a:t>Tactical Visual Sanitization: Strategic block-level obfuscation ensures that tactical operations and victim residences remain protected. We map citywide trends, not private doorsteps.</a:t>
            </a:r>
          </a:p>
        </p:txBody>
      </p:sp>
      <p:sp>
        <p:nvSpPr>
          <p:cNvPr id="7" name="Text 4"/>
          <p:cNvSpPr/>
          <p:nvPr/>
        </p:nvSpPr>
        <p:spPr>
          <a:xfrm>
            <a:off x="1115568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Tactical Visual Sanitization: Strategic block-level obfuscation ensures that tactical operations and victim residences remain protected. We map citywide trends, not private doorsteps.</a:t>
            </a:r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04688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505050"/>
                </a:solidFill>
              </a:rPr>
              <a:t>Strategic Vetting Latency: A mandatory 7-day forensic buffer allows the Detective Division to reclassify, vet, or suppress sensitive records before any wider visibility.</a:t>
            </a:r>
          </a:p>
        </p:txBody>
      </p:sp>
      <p:sp>
        <p:nvSpPr>
          <p:cNvPr id="11" name="Text 7"/>
          <p:cNvSpPr/>
          <p:nvPr/>
        </p:nvSpPr>
        <p:spPr>
          <a:xfrm>
            <a:off x="5504688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505050"/>
                </a:solidFill>
              </a:rPr>
              <a:t>Strategic Vetting Latency: A mandatory 7-day forensic buffer allows the Detective Division to reclassify, vet, or suppress sensitive records before any wider visibility.</a:t>
            </a:r>
          </a:p>
        </p:txBody>
      </p:sp>
      <p:sp>
        <p:nvSpPr>
          <p:cNvPr id="12" name="Shape 8"/>
          <p:cNvSpPr/>
          <p:nvPr/>
        </p:nvSpPr>
        <p:spPr>
          <a:xfrm>
            <a:off x="36576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3136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505050"/>
                </a:solidFill>
              </a:rPr>
              <a:t>Investigative PII Protection: Engineered to automatically ignore PII. Only incident types and coordinates enter the graph, ensuring zero risk of leaking sensitive personnel or victim data.</a:t>
            </a:r>
          </a:p>
        </p:txBody>
      </p:sp>
      <p:sp>
        <p:nvSpPr>
          <p:cNvPr id="15" name="Text 10"/>
          <p:cNvSpPr/>
          <p:nvPr/>
        </p:nvSpPr>
        <p:spPr>
          <a:xfrm>
            <a:off x="1115568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Names, ages, and identities of victims or suspects are never included in public-facing data.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204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04688" y="3136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505050"/>
                </a:solidFill>
              </a:rPr>
              <a:t>Absolute Data Sovereignty: The Police Department retains total administrative control over the ETL pipeline. You define the release windows, vetting rules, and dashboard access.</a:t>
            </a:r>
          </a:p>
        </p:txBody>
      </p:sp>
      <p:sp>
        <p:nvSpPr>
          <p:cNvPr id="19" name="Text 13"/>
          <p:cNvSpPr/>
          <p:nvPr/>
        </p:nvSpPr>
        <p:spPr>
          <a:xfrm>
            <a:off x="5504688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Absolute Data Sovereignty: The Police Department retains total administrative control over the ETL pipeline. You define the release windows, vetting rules, and dashboard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9202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Month 1–2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1737360"/>
            <a:ext cx="1737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Data audit &amp; classification review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Define data sharing protocol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Privacy &amp; legal sign-off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192024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450592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50592" y="12618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Month 3–5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60020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42032" y="1737360"/>
            <a:ext cx="1737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Platform development &amp; GIS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Internal testing with department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Staff training &amp; feedback loop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192024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26864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26864" y="12618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Month 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60020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18304" y="1737360"/>
            <a:ext cx="1737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Soft launch with community pilot group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Gather public feedback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Refinements &amp; bug fixes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1005840"/>
            <a:ext cx="1920240" cy="502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03136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03136" y="12618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Month 7+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60020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94576" y="1737360"/>
            <a:ext cx="1737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Full public launch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Ongoing data refresh (daily)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Annual feature review &amp; updates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657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a Safer, More Transparent City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697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Sentinel turns your department's existing data into a powerful public trust tool.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No new data collection. No operational disruption. Maximum community impact.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86000" y="3611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</a:rPr>
              <a:t>Approve a pilot data-sharing agreement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</a:rPr>
              <a:t>Assign a data liaison from the department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</a:rPr>
              <a:t>Set a 6-month go-live target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453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Together, we protect and inform.  |  citymap@citypolice.gov  |  www.citymap.gov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CityMap – Public Crime Transparency Platform</dc:title>
  <dc:subject>PptxGenJS Presentation</dc:subject>
  <dc:creator>PptxGenJS</dc:creator>
  <cp:lastModifiedBy>PptxGenJS</cp:lastModifiedBy>
  <cp:revision>1</cp:revision>
  <dcterms:created xsi:type="dcterms:W3CDTF">2026-04-24T06:48:06Z</dcterms:created>
  <dcterms:modified xsi:type="dcterms:W3CDTF">2026-04-24T06:48:06Z</dcterms:modified>
</cp:coreProperties>
</file>