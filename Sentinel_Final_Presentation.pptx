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2563EB"/>
                </a:solidFill>
              </a:defRPr>
            </a:pPr>
            <a:r>
              <a:t>Our Core Forensic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A6578"/>
                </a:solidFill>
              </a:defRPr>
            </a:pPr>
            <a:r>
              <a:t>Comprehensive intelligence tools for total situational awareness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t>1. Summary Maps: Multi-Layered Intelligence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Granular Control: Toggle between Wards, Districts, and Beats.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Infrastructure Overlay: Correlate crime with Hospitals &amp; Schools.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Timeline Playback: Visualize crime migration patterns over time.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t>2. Crimes &amp; Dashboard Tabs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Crime Map Area: Tactical marker clustering and drill-down popups.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Precision Search: Localized investigation via address or area ID.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Dashboard Stats: Analyze trends by Hour of Day and Day of Week.</a:t>
            </a:r>
          </a:p>
          <a:p>
            <a:pPr>
              <a:defRPr b="1" sz="1100">
                <a:solidFill>
                  <a:srgbClr val="1A2332"/>
                </a:solidFill>
              </a:defRPr>
            </a:pPr>
            <a:r>
              <a:t>3. AI Chat Assistant</a:t>
            </a:r>
            <a:r>
              <a:t> - Natural language forensic querying.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AI-Powered Crime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A6578"/>
                </a:solidFill>
              </a:defRPr>
            </a:pPr>
            <a:r>
              <a:t>Conversational access to the ArangoDB knowledge graph</a:t>
            </a:r>
          </a:p>
          <a:p>
            <a:pPr>
              <a:defRPr sz="1400"/>
            </a:pPr>
            <a:r>
              <a:t>The Sentinel AI Chat Assistant bridges the gap between massive datasets and actionable intelligence.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Forensic Trend Analysis: </a:t>
            </a:r>
            <a:r>
              <a:t>Identify surging crime categories and 'hidden' patterns.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Graph-Relational Traversal: </a:t>
            </a:r>
            <a:r>
              <a:t>Explore connections in the ArangoDB Gold Layer.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Automated Executive Reporting: </a:t>
            </a:r>
            <a:r>
              <a:t>Generate summaries via simple chat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Additional Forensic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A6578"/>
                </a:solidFill>
              </a:defRPr>
            </a:pPr>
            <a:r>
              <a:t>Automated reporting and predictive temporal analysis</a:t>
            </a:r>
          </a:p>
          <a:p>
            <a:pPr>
              <a:defRPr b="1" sz="1800">
                <a:solidFill>
                  <a:srgbClr val="3B82F6"/>
                </a:solidFill>
              </a:defRPr>
            </a:pPr>
            <a:r>
              <a:t>Advanced Reporting</a:t>
            </a:r>
          </a:p>
          <a:p>
            <a:pPr>
              <a:defRPr sz="1200"/>
            </a:pPr>
            <a:r>
              <a:t>• Strategic Comparison audits.</a:t>
            </a:r>
          </a:p>
          <a:p>
            <a:pPr>
              <a:defRPr sz="1200"/>
            </a:pPr>
            <a:r>
              <a:t>• Dynamic PDF Export with charts.</a:t>
            </a:r>
          </a:p>
          <a:p>
            <a:pPr>
              <a:defRPr sz="1200"/>
            </a:pPr>
            <a:r>
              <a:t>• Custom Parameter Precision filters.</a:t>
            </a:r>
          </a:p>
          <a:p>
            <a:pPr>
              <a:defRPr b="1" sz="1800">
                <a:solidFill>
                  <a:srgbClr val="F57C00"/>
                </a:solidFill>
              </a:defRPr>
            </a:pPr>
            <a:r>
              <a:t>Trend &amp; Surge Analysis</a:t>
            </a:r>
          </a:p>
          <a:p>
            <a:pPr>
              <a:defRPr sz="1200"/>
            </a:pPr>
            <a:r>
              <a:t>• Temporal Granularity (Daily/Weekly).</a:t>
            </a:r>
          </a:p>
          <a:p>
            <a:pPr>
              <a:defRPr sz="1200"/>
            </a:pPr>
            <a:r>
              <a:t>• Moving Average Differentials.</a:t>
            </a:r>
          </a:p>
          <a:p>
            <a:pPr>
              <a:defRPr sz="1200"/>
            </a:pPr>
            <a:r>
              <a:t>• Impact Indicators (incidents/day).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Benefits for the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A6578"/>
                </a:solidFill>
              </a:defRPr>
            </a:pPr>
            <a:r>
              <a:t>Strategic value for Law Enforcement and Community Engagement</a:t>
            </a:r>
          </a:p>
          <a:p>
            <a:pPr>
              <a:defRPr b="1" sz="1800">
                <a:solidFill>
                  <a:srgbClr val="2563EB"/>
                </a:solidFill>
              </a:defRPr>
            </a:pPr>
            <a:r>
              <a:t>For the Police Department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Reduces FOIA/requests by proactively publishing data.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Demonstrates accountability and transparency.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Builds community trust — better crime reporting.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No new data collection — uses existing reports.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Low operational overhead once deployed.</a:t>
            </a:r>
          </a:p>
          <a:p/>
          <a:p>
            <a:pPr>
              <a:defRPr b="1" sz="1800">
                <a:solidFill>
                  <a:srgbClr val="16A34A"/>
                </a:solidFill>
              </a:defRPr>
            </a:pPr>
            <a:r>
              <a:t>For the Public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Informed decisions on where to live, work, travel.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Awareness of local crime trends in real time.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Find nearest police station quickly.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Check registered offenders near schools/homes.</a:t>
            </a:r>
          </a:p>
          <a:p>
            <a:pPr>
              <a:defRPr sz="1100">
                <a:solidFill>
                  <a:srgbClr val="1A2332"/>
                </a:solidFill>
              </a:defRPr>
            </a:pPr>
            <a:r>
              <a:t>• Access open data for research or journalism.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