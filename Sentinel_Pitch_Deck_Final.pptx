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2563EB"/>
                </a:solidFill>
              </a:defRPr>
            </a:pPr>
            <a:r>
              <a:t>Our Core Forensic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5A6578"/>
                </a:solidFill>
              </a:defRPr>
            </a:pPr>
            <a:r>
              <a:t>Comprehensive intelligence tools for total situational awareness</a:t>
            </a:r>
          </a:p>
          <a:p>
            <a:pPr>
              <a:defRPr b="1" sz="1400">
                <a:solidFill>
                  <a:srgbClr val="1A2332"/>
                </a:solidFill>
              </a:defRPr>
            </a:pPr>
            <a:r>
              <a:t>1. Summary Maps: Multi-Layered Intelligence</a:t>
            </a:r>
          </a:p>
          <a:p>
            <a:pPr>
              <a:defRPr sz="1100">
                <a:solidFill>
                  <a:srgbClr val="5A6578"/>
                </a:solidFill>
              </a:defRPr>
            </a:pPr>
            <a:r>
              <a:t>   • Granular Control: Toggle between Wards, Districts, and Beats.</a:t>
            </a:r>
          </a:p>
          <a:p>
            <a:pPr>
              <a:defRPr sz="1100">
                <a:solidFill>
                  <a:srgbClr val="5A6578"/>
                </a:solidFill>
              </a:defRPr>
            </a:pPr>
            <a:r>
              <a:t>   • Infrastructure Overlay: Correlate crime with Hospitals &amp; Schools.</a:t>
            </a:r>
          </a:p>
          <a:p>
            <a:pPr>
              <a:defRPr sz="1100">
                <a:solidFill>
                  <a:srgbClr val="5A6578"/>
                </a:solidFill>
              </a:defRPr>
            </a:pPr>
            <a:r>
              <a:t>   • Timeline Playback: Visualize crime migration patterns over time.</a:t>
            </a:r>
          </a:p>
          <a:p>
            <a:pPr>
              <a:defRPr b="1" sz="1400">
                <a:solidFill>
                  <a:srgbClr val="1A2332"/>
                </a:solidFill>
              </a:defRPr>
            </a:pPr>
            <a:r>
              <a:t>2. Crimes &amp; Dashboard Tabs</a:t>
            </a:r>
          </a:p>
          <a:p>
            <a:pPr>
              <a:defRPr sz="1100">
                <a:solidFill>
                  <a:srgbClr val="5A6578"/>
                </a:solidFill>
              </a:defRPr>
            </a:pPr>
            <a:r>
              <a:t>   • Crime Map Area: Tactical marker clustering and drill-down popups.</a:t>
            </a:r>
          </a:p>
          <a:p>
            <a:pPr>
              <a:defRPr sz="1100">
                <a:solidFill>
                  <a:srgbClr val="5A6578"/>
                </a:solidFill>
              </a:defRPr>
            </a:pPr>
            <a:r>
              <a:t>   • Precision Search: Localized investigation via address or area ID.</a:t>
            </a:r>
          </a:p>
          <a:p>
            <a:pPr>
              <a:defRPr sz="1100">
                <a:solidFill>
                  <a:srgbClr val="5A6578"/>
                </a:solidFill>
              </a:defRPr>
            </a:pPr>
            <a:r>
              <a:t>   • Dashboard Stats: Analyze trends by Hour of Day and Day of Week.</a:t>
            </a:r>
          </a:p>
          <a:p>
            <a:pPr>
              <a:defRPr b="1" sz="1100">
                <a:solidFill>
                  <a:srgbClr val="1A2332"/>
                </a:solidFill>
              </a:defRPr>
            </a:pPr>
            <a:r>
              <a:t>3. AI Chat Assistant</a:t>
            </a:r>
            <a:r>
              <a:t> - Natural language forensic querying.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563EB"/>
                </a:solidFill>
              </a:defRPr>
            </a:pPr>
            <a:r>
              <a:t>AI-Powered Crime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A6578"/>
                </a:solidFill>
              </a:defRPr>
            </a:pPr>
            <a:r>
              <a:t>Conversational access to the ArangoDB knowledge graph</a:t>
            </a:r>
          </a:p>
          <a:p>
            <a:pPr>
              <a:defRPr sz="1400"/>
            </a:pPr>
            <a:r>
              <a:t>The Sentinel AI Chat Assistant bridges the gap between massive datasets and actionable intelligence.</a:t>
            </a:r>
          </a:p>
          <a:p>
            <a:pPr>
              <a:defRPr sz="1400">
                <a:solidFill>
                  <a:srgbClr val="1A2332"/>
                </a:solidFill>
              </a:defRPr>
            </a:pPr>
            <a:r>
              <a:rPr b="1"/>
              <a:t>• Forensic Trend Analysis: </a:t>
            </a:r>
            <a:r>
              <a:t>Identify surging crime categories and 'hidden' patterns.</a:t>
            </a:r>
          </a:p>
          <a:p>
            <a:pPr>
              <a:defRPr sz="1400">
                <a:solidFill>
                  <a:srgbClr val="1A2332"/>
                </a:solidFill>
              </a:defRPr>
            </a:pPr>
            <a:r>
              <a:rPr b="1"/>
              <a:t>• Graph-Relational Traversal: </a:t>
            </a:r>
            <a:r>
              <a:t>Explore connections in the ArangoDB Gold Layer.</a:t>
            </a:r>
          </a:p>
          <a:p>
            <a:pPr>
              <a:defRPr sz="1400">
                <a:solidFill>
                  <a:srgbClr val="1A2332"/>
                </a:solidFill>
              </a:defRPr>
            </a:pPr>
            <a:r>
              <a:rPr b="1"/>
              <a:t>• Automated Executive Reporting: </a:t>
            </a:r>
            <a:r>
              <a:t>Generate summaries via simple chat prompts.</a:t>
            </a:r>
          </a:p>
          <a:p>
            <a:pPr>
              <a:defRPr sz="1400">
                <a:solidFill>
                  <a:srgbClr val="1A2332"/>
                </a:solidFill>
              </a:defRPr>
            </a:pPr>
            <a:r>
              <a:rPr b="1"/>
              <a:t>• Cross-District Comparatives: </a:t>
            </a:r>
            <a:r>
              <a:t>Ask the AI to compare any two areas in real-time.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563EB"/>
                </a:solidFill>
              </a:defRPr>
            </a:pPr>
            <a:r>
              <a:t>Additional Forensic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A6578"/>
                </a:solidFill>
              </a:defRPr>
            </a:pPr>
            <a:r>
              <a:t>Automated reporting and predictive temporal analysis</a:t>
            </a:r>
          </a:p>
          <a:p>
            <a:pPr>
              <a:defRPr b="1" sz="1800">
                <a:solidFill>
                  <a:srgbClr val="3B82F6"/>
                </a:solidFill>
              </a:defRPr>
            </a:pPr>
            <a:r>
              <a:t>Advanced Reporting</a:t>
            </a:r>
          </a:p>
          <a:p>
            <a:pPr>
              <a:defRPr sz="1200">
                <a:solidFill>
                  <a:srgbClr val="1A2332"/>
                </a:solidFill>
              </a:defRPr>
            </a:pPr>
            <a:r>
              <a:t>• Strategic Comparison: Side-by-side district performance audits.</a:t>
            </a:r>
          </a:p>
          <a:p>
            <a:pPr>
              <a:defRPr sz="1200">
                <a:solidFill>
                  <a:srgbClr val="1A2332"/>
                </a:solidFill>
              </a:defRPr>
            </a:pPr>
            <a:r>
              <a:t>• Dynamic PDF Export: High-fidelity documents with charts and maps.</a:t>
            </a:r>
          </a:p>
          <a:p>
            <a:pPr>
              <a:defRPr sz="1200">
                <a:solidFill>
                  <a:srgbClr val="1A2332"/>
                </a:solidFill>
              </a:defRPr>
            </a:pPr>
            <a:r>
              <a:t>• Custom Parameters: Precision audits by district, category, and date.</a:t>
            </a:r>
          </a:p>
          <a:p/>
          <a:p>
            <a:pPr>
              <a:defRPr b="1" sz="1800">
                <a:solidFill>
                  <a:srgbClr val="F57C00"/>
                </a:solidFill>
              </a:defRPr>
            </a:pPr>
            <a:r>
              <a:t>Trend &amp; Surge Analysis</a:t>
            </a:r>
          </a:p>
          <a:p>
            <a:pPr>
              <a:defRPr sz="1200">
                <a:solidFill>
                  <a:srgbClr val="1A2332"/>
                </a:solidFill>
              </a:defRPr>
            </a:pPr>
            <a:r>
              <a:t>• Temporal Granularity: Toggle Daily, Weekly, and Monthly views.</a:t>
            </a:r>
          </a:p>
          <a:p>
            <a:pPr>
              <a:defRPr sz="1200">
                <a:solidFill>
                  <a:srgbClr val="1A2332"/>
                </a:solidFill>
              </a:defRPr>
            </a:pPr>
            <a:r>
              <a:t>• Moving Averages: Compare 7-day vs 30-day averages to isolate surges.</a:t>
            </a:r>
          </a:p>
          <a:p>
            <a:pPr>
              <a:defRPr sz="1200">
                <a:solidFill>
                  <a:srgbClr val="1A2332"/>
                </a:solidFill>
              </a:defRPr>
            </a:pPr>
            <a:r>
              <a:t>• Impact Indicators: Precise incidents-per-day trend quantification.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